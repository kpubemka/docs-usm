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media/image2.svg" ContentType="image/sv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sldImg"/>
          </p:nvPr>
        </p:nvSpPr>
        <p:spPr>
          <a:xfrm>
            <a:off x="720000" y="900000"/>
            <a:ext cx="6120000" cy="3441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p>
            <a:pPr algn="ctr"/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to 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move 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the 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slide</a:t>
            </a:r>
            <a:endParaRPr lang="ro-RO" sz="32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720000" y="4680000"/>
            <a:ext cx="6120000" cy="504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Click to edit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the notes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format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72000">
            <a:noFill/>
          </a:ln>
        </p:spPr>
        <p:txBody>
          <a:bodyPr lIns="0" tIns="0" rIns="0" bIns="0" anchor="t">
            <a:spAutoFit/>
          </a:bodyPr>
          <a:p>
            <a:pPr indent="0" algn="l">
              <a:buNone/>
            </a:pPr>
            <a:r>
              <a:rPr lang="ro-RO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&lt;header&gt;</a:t>
            </a:r>
            <a:endParaRPr lang="ro-RO" sz="14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0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7200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ro-RO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r>
              <a:rPr lang="ro-RO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&lt;date/time&gt;</a:t>
            </a:r>
            <a:endParaRPr lang="ro-RO" sz="14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1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7200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ro-RO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ro-RO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&lt;footer&gt;</a:t>
            </a:r>
            <a:endParaRPr lang="ro-RO" sz="14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2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7200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ro-RO" sz="1400" b="0" u="none" strike="noStrike">
                <a:solidFill>
                  <a:srgbClr val="000000"/>
                </a:solidFill>
                <a:effectLst/>
                <a:uFillTx/>
                <a:latin typeface="Noto Sans"/>
              </a:defRPr>
            </a:lvl1pPr>
          </a:lstStyle>
          <a:p>
            <a:pPr indent="0" algn="r">
              <a:buNone/>
            </a:pPr>
            <a:fld id="{FB6E5299-02B4-4FD0-8E08-284D2DF0FE3C}" type="slidenum">
              <a:rPr lang="ro-RO" sz="14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&lt;number&gt;</a:t>
            </a:fld>
            <a:endParaRPr lang="ro-RO" sz="14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sldImg"/>
          </p:nvPr>
        </p:nvSpPr>
        <p:spPr>
          <a:xfrm>
            <a:off x="720000" y="900000"/>
            <a:ext cx="6120000" cy="3441600"/>
          </a:xfrm>
          <a:prstGeom prst="rect">
            <a:avLst/>
          </a:prstGeom>
          <a:ln w="0">
            <a:noFill/>
          </a:ln>
        </p:spPr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720000" y="4680000"/>
            <a:ext cx="6120000" cy="504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Revânza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rea 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obosito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area și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ea mult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timp.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Etapele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enumer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ate sunt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manual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 și eau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mult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timp;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Spre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deosebi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re de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extracto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ri rigizi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bazați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script-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uri, ...;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Întrebar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ea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principa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lă a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proiect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ului: ...;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 ...;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sldImg"/>
          </p:nvPr>
        </p:nvSpPr>
        <p:spPr>
          <a:xfrm>
            <a:off x="720000" y="900000"/>
            <a:ext cx="6120000" cy="3441600"/>
          </a:xfrm>
          <a:prstGeom prst="rect">
            <a:avLst/>
          </a:prstGeom>
          <a:ln w="0">
            <a:noFill/>
          </a:ln>
        </p:spPr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720000" y="4680000"/>
            <a:ext cx="6120000" cy="504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Idei pe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care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este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bazat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proiect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ul: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Sarcina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este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spartă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în etape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realizat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 de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agenți;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Framew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ork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scris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manual;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Extrage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rea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datelor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cu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validare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tipurilor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Travers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area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paginilo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 cu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atenuar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ea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boților;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sldImg"/>
          </p:nvPr>
        </p:nvSpPr>
        <p:spPr>
          <a:xfrm>
            <a:off x="720000" y="900000"/>
            <a:ext cx="6120000" cy="3441600"/>
          </a:xfrm>
          <a:prstGeom prst="rect">
            <a:avLst/>
          </a:prstGeom>
          <a:ln w="0">
            <a:noFill/>
          </a:ln>
        </p:spPr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720000" y="4680000"/>
            <a:ext cx="6120000" cy="504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Din ce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este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compus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proiect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ul: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Patru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servicii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principa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le: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	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bot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telegra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m;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	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orchest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rator: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manage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rul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sistemu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lui,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interfaț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 de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coopera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re user-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worker;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	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worker: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serviciul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care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efectua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ză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lucrul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principa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	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Redis: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sistemu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 de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queue;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Separar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ea pe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servicii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permite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rularea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indepen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dentă și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izolarea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eșecuril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or;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Orchest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ratorul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este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bazat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FastAPI,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observă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ciclul de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viață;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Worker-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ul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execută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job-ul;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Datele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stocate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be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disc: ...;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sldImg"/>
          </p:nvPr>
        </p:nvSpPr>
        <p:spPr>
          <a:xfrm>
            <a:off x="720000" y="900000"/>
            <a:ext cx="6120000" cy="3441600"/>
          </a:xfrm>
          <a:prstGeom prst="rect">
            <a:avLst/>
          </a:prstGeom>
          <a:ln w="0">
            <a:noFill/>
          </a:ln>
        </p:spPr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720000" y="4680000"/>
            <a:ext cx="6120000" cy="504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Din ce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este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compus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pipeline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-ul: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Worker-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ul: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	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Rulează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job-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urile,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salveaz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ă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rezultat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ele pe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disc în: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SQLite +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fișiere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pe disc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(rezulat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atele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OpenRo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uter,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site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cache);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	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Job-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urile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sunt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executa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secvenți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al de 6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agenți.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Agenții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LLM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sunt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sublinia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ți;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Botul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telegra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m: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	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Operea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ză cu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orchest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ractorul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prin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HTTP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API + își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salveaz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ă datele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sale pe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disc –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bot_con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figs.jso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n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(configu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rațiile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posibile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+ cele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active);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Orchest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ratorul: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	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Expune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HTTP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API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CRUD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(Create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Read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Update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Delete)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 job-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urilor,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numai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că fără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Delete;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	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Botul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telegra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m pune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job-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urile în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queue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prin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API,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apoi le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sondea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ză și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așteapt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ă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rezulatu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 prin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API;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	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Joburile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noi sunt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puse în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Redis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queue,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de unde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le preia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worker-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ul;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sldImg"/>
          </p:nvPr>
        </p:nvSpPr>
        <p:spPr>
          <a:xfrm>
            <a:off x="720000" y="900000"/>
            <a:ext cx="6120000" cy="3441600"/>
          </a:xfrm>
          <a:prstGeom prst="rect">
            <a:avLst/>
          </a:prstGeom>
          <a:ln w="0">
            <a:noFill/>
          </a:ln>
        </p:spPr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720000" y="4680000"/>
            <a:ext cx="6120000" cy="504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Cum au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fost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rulate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experim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entele: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- 9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configu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rații: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2xClaud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e,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2xDeep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Seek,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2xGPT,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Gemini,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Gemma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, Llama;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Rulări: 9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configu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rații, 7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link-uri,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3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repetări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per link;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sldImg"/>
          </p:nvPr>
        </p:nvSpPr>
        <p:spPr>
          <a:xfrm>
            <a:off x="720000" y="900000"/>
            <a:ext cx="6120000" cy="3441600"/>
          </a:xfrm>
          <a:prstGeom prst="rect">
            <a:avLst/>
          </a:prstGeom>
          <a:ln w="0">
            <a:noFill/>
          </a:ln>
        </p:spPr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720000" y="4680000"/>
            <a:ext cx="6120000" cy="504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Cantitat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ea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ieșirii/in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trării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promp-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utilor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sunt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calculat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 în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token-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uri;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- 1 token !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= 1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caracter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Număr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ul de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caracter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ieșire/in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trare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variază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cu 44%;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Număr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ul de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token-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uri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variază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cu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1200%;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Cauza: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tokeniz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ator.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Tokeniz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atorul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transfor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mă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cuvintel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 în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numere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cu care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rulează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LLM-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urile,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apoi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înapoi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în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cuvinte;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Rezultat: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Fiecare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LLM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interpre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tează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cuvintel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 în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felul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său -&gt;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Unele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LLM-uri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opereaz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ă cu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cantități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diferite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token-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uri;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sldImg"/>
          </p:nvPr>
        </p:nvSpPr>
        <p:spPr>
          <a:xfrm>
            <a:off x="720000" y="900000"/>
            <a:ext cx="6120000" cy="3441600"/>
          </a:xfrm>
          <a:prstGeom prst="rect">
            <a:avLst/>
          </a:prstGeom>
          <a:ln w="0">
            <a:noFill/>
          </a:ln>
        </p:spPr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720000" y="4680000"/>
            <a:ext cx="6120000" cy="504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Trei tipuri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eșecuri: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	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Eșuat-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apoi-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reușit: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ex.: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apelul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LLM a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eșuat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prima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dată, a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reușit a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doua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dată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(dacă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un apel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LLM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eșuază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prima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dată, al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doilea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apel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include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și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eroarea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eșecului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);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	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Eșec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dur: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ambele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apeluri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au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eșuat;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	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Eșec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moale: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specific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agentul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`pricer`.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Ambele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eșecuri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LLM nu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generea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ză o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excepți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e, dar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marche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ază că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au fost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eșuate;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S-au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observa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 0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eșecuri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dure și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moale,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2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reîncerc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ări.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Rezultat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: LLM-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urile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modern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 se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adveră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foarte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bine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disciplin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ei JSON;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Latența: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În acest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caz,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latența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este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măsura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tă și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pentru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modelel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 LLM,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și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pentru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provide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diferiți;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sldImg"/>
          </p:nvPr>
        </p:nvSpPr>
        <p:spPr>
          <a:xfrm>
            <a:off x="720000" y="900000"/>
            <a:ext cx="6120000" cy="3441600"/>
          </a:xfrm>
          <a:prstGeom prst="rect">
            <a:avLst/>
          </a:prstGeom>
          <a:ln w="0">
            <a:noFill/>
          </a:ln>
        </p:spPr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720000" y="4680000"/>
            <a:ext cx="6120000" cy="504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Agentul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`pricer`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crează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un preț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nou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pentru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produs;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Prețul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nou nu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reflectă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costuril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 de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livrare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și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import;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Reflectă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cât de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mult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prețul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poate fi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ridicat.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Așa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numit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„vibe-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pricing”;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El este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cerut să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noteze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5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parame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tri în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interval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ul [-5;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+5];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În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general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LLM-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urile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preferă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să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ridice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prețul;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Cel puțin,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poate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depinde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prompt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ul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folosit;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sldImg"/>
          </p:nvPr>
        </p:nvSpPr>
        <p:spPr>
          <a:xfrm>
            <a:off x="720000" y="900000"/>
            <a:ext cx="6120000" cy="3441600"/>
          </a:xfrm>
          <a:prstGeom prst="rect">
            <a:avLst/>
          </a:prstGeom>
          <a:ln w="0">
            <a:noFill/>
          </a:ln>
        </p:spPr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720000" y="4680000"/>
            <a:ext cx="6120000" cy="504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Graficul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din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stânga: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  <a:p>
            <a:pPr marL="216000" indent="-216000" algn="l">
              <a:buNone/>
            </a:pP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- Chiar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dacă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costul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per-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token al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Deepse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k este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mic,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număru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l de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tokeni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de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ieșire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este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foarte </a:t>
            </a:r>
            <a:r>
              <a:rPr lang="ro-RO" sz="2000" b="0" u="none" strike="noStrike">
                <a:solidFill>
                  <a:srgbClr val="000000"/>
                </a:solidFill>
                <a:effectLst/>
                <a:uFillTx/>
                <a:latin typeface="Noto Sans"/>
              </a:rPr>
              <a:t>ridicat.</a:t>
            </a:r>
            <a:endParaRPr lang="ro-RO" sz="20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Midnight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6000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>
              <a:buNone/>
            </a:pPr>
            <a:endParaRPr lang="ro-RO" sz="32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360000" y="1485000"/>
            <a:ext cx="9360000" cy="37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Aft>
                <a:spcPts val="1057"/>
              </a:spcAft>
              <a:buNone/>
            </a:pPr>
            <a:endParaRPr lang="ro-RO" sz="24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DBAB9FB-D281-48F3-9751-C2F51EF4A3D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o-MD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idnightblu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6000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>
              <a:buNone/>
            </a:pPr>
            <a:endParaRPr lang="ro-RO" sz="32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ubTitle"/>
          </p:nvPr>
        </p:nvSpPr>
        <p:spPr>
          <a:xfrm>
            <a:off x="360000" y="1485000"/>
            <a:ext cx="9360000" cy="37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ro-RO" sz="32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604FCA59-A1DB-4644-B685-1B3C1E92C5F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o-MD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5400000"/>
            <a:ext cx="10080000" cy="270000"/>
          </a:xfrm>
          <a:prstGeom prst="rect">
            <a:avLst/>
          </a:prstGeom>
          <a:solidFill>
            <a:srgbClr val="2C3E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ro-RO" sz="14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3" name=""/>
          <p:cNvSpPr/>
          <p:nvPr/>
        </p:nvSpPr>
        <p:spPr>
          <a:xfrm>
            <a:off x="0" y="0"/>
            <a:ext cx="10080000" cy="1215000"/>
          </a:xfrm>
          <a:prstGeom prst="rect">
            <a:avLst/>
          </a:prstGeom>
          <a:solidFill>
            <a:srgbClr val="2C3E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ro-RO" sz="14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4" name=""/>
          <p:cNvSpPr/>
          <p:nvPr/>
        </p:nvSpPr>
        <p:spPr>
          <a:xfrm>
            <a:off x="9315000" y="5175000"/>
            <a:ext cx="450000" cy="450000"/>
          </a:xfrm>
          <a:prstGeom prst="ellipse">
            <a:avLst/>
          </a:prstGeom>
          <a:solidFill>
            <a:srgbClr val="1ABC9C"/>
          </a:solidFill>
          <a:ln w="0">
            <a:solidFill>
              <a:srgbClr val="1ABC9C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ro-RO" sz="14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6000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title text 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format</a:t>
            </a:r>
            <a:endParaRPr lang="ro-RO" sz="32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360000" y="1485000"/>
            <a:ext cx="9360000" cy="37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  <a:defRPr lang="ro-RO" sz="2400" b="1" u="none" strike="noStrike">
                <a:solidFill>
                  <a:srgbClr val="2C3E50"/>
                </a:solidFill>
                <a:effectLst/>
                <a:uFillTx/>
                <a:latin typeface="Noto Sans"/>
              </a:defRPr>
            </a:lvl1pPr>
            <a:lvl2pPr lvl="1" algn="l">
              <a:spcAft>
                <a:spcPts val="850"/>
              </a:spcAft>
              <a:buClr>
                <a:srgbClr val="2C3E50"/>
              </a:buClr>
              <a:buSzPct val="75000"/>
              <a:buFont typeface="Symbol" charset="2"/>
              <a:buChar char=""/>
              <a:defRPr lang="ro-RO" sz="2100" b="0" u="none" strike="noStrike">
                <a:solidFill>
                  <a:srgbClr val="2C3E50"/>
                </a:solidFill>
                <a:effectLst/>
                <a:uFillTx/>
                <a:latin typeface="Noto Sans"/>
              </a:defRPr>
            </a:lvl2pPr>
            <a:lvl3pPr lvl="2" algn="l">
              <a:spcAft>
                <a:spcPts val="635"/>
              </a:spcAft>
              <a:buClr>
                <a:srgbClr val="2C3E50"/>
              </a:buClr>
              <a:buSzPct val="45000"/>
              <a:buFont typeface="Wingdings" charset="2"/>
              <a:buChar char=""/>
              <a:defRPr lang="ro-RO" sz="1800" b="0" u="none" strike="noStrike">
                <a:solidFill>
                  <a:srgbClr val="2C3E50"/>
                </a:solidFill>
                <a:effectLst/>
                <a:uFillTx/>
                <a:latin typeface="Noto Sans"/>
              </a:defRPr>
            </a:lvl3pPr>
            <a:lvl4pPr lvl="3" algn="l">
              <a:spcAft>
                <a:spcPts val="425"/>
              </a:spcAft>
              <a:buClr>
                <a:srgbClr val="2C3E50"/>
              </a:buClr>
              <a:buSzPct val="75000"/>
              <a:buFont typeface="Symbol" charset="2"/>
              <a:buChar char=""/>
              <a:defRPr lang="ro-RO" sz="1500" b="0" u="none" strike="noStrike">
                <a:solidFill>
                  <a:srgbClr val="2C3E50"/>
                </a:solidFill>
                <a:effectLst/>
                <a:uFillTx/>
                <a:latin typeface="Noto Sans"/>
              </a:defRPr>
            </a:lvl4pPr>
            <a:lvl5pPr lvl="4" algn="l">
              <a:spcAft>
                <a:spcPts val="213"/>
              </a:spcAft>
              <a:buClr>
                <a:srgbClr val="2C3E50"/>
              </a:buClr>
              <a:buSzPct val="45000"/>
              <a:buFont typeface="Wingdings" charset="2"/>
              <a:buChar char=""/>
              <a:defRPr lang="ro-RO" sz="1500" b="0" u="none" strike="noStrike">
                <a:solidFill>
                  <a:srgbClr val="2C3E50"/>
                </a:solidFill>
                <a:effectLst/>
                <a:uFillTx/>
                <a:latin typeface="Noto Sans"/>
              </a:defRPr>
            </a:lvl5pPr>
            <a:lvl6pPr lvl="5" algn="l">
              <a:spcAft>
                <a:spcPts val="213"/>
              </a:spcAft>
              <a:buClr>
                <a:srgbClr val="2C3E50"/>
              </a:buClr>
              <a:buSzPct val="45000"/>
              <a:buFont typeface="Wingdings" charset="2"/>
              <a:buChar char=""/>
              <a:defRPr lang="ro-RO" sz="1500" b="0" u="none" strike="noStrike">
                <a:solidFill>
                  <a:srgbClr val="2C3E50"/>
                </a:solidFill>
                <a:effectLst/>
                <a:uFillTx/>
                <a:latin typeface="Noto Sans"/>
              </a:defRPr>
            </a:lvl6pPr>
            <a:lvl7pPr lvl="6" algn="l">
              <a:spcAft>
                <a:spcPts val="213"/>
              </a:spcAft>
              <a:buClr>
                <a:srgbClr val="2C3E50"/>
              </a:buClr>
              <a:buSzPct val="45000"/>
              <a:buFont typeface="Wingdings" charset="2"/>
              <a:buChar char=""/>
              <a:defRPr lang="ro-RO" sz="1500" b="0" u="none" strike="noStrike">
                <a:solidFill>
                  <a:srgbClr val="2C3E50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ro-RO" sz="24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Click to edit the outline text format</a:t>
            </a:r>
            <a:endParaRPr lang="ro-RO" sz="24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864000" lvl="1" indent="-324000" algn="l">
              <a:spcAft>
                <a:spcPts val="850"/>
              </a:spcAft>
              <a:buClr>
                <a:srgbClr val="2C3E50"/>
              </a:buClr>
              <a:buSzPct val="75000"/>
              <a:buFont typeface="Symbol" charset="2"/>
              <a:buChar char=""/>
            </a:pPr>
            <a:r>
              <a:rPr lang="ro-RO" sz="21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Second Outline Level</a:t>
            </a:r>
            <a:endParaRPr lang="ro-RO" sz="21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1296000" lvl="2" indent="-288000" algn="l">
              <a:spcAft>
                <a:spcPts val="635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ro-RO" sz="18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Third Outline Level</a:t>
            </a:r>
            <a:endParaRPr lang="ro-RO" sz="18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1728000" lvl="3" indent="-216000" algn="l">
              <a:spcAft>
                <a:spcPts val="425"/>
              </a:spcAft>
              <a:buClr>
                <a:srgbClr val="2C3E50"/>
              </a:buClr>
              <a:buSzPct val="75000"/>
              <a:buFont typeface="Symbol" charset="2"/>
              <a:buChar char=""/>
            </a:pPr>
            <a:r>
              <a:rPr lang="ro-RO" sz="15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Fourth Outline Level</a:t>
            </a:r>
            <a:endParaRPr lang="ro-RO" sz="15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2160000" lvl="4" indent="-216000" algn="l">
              <a:spcAft>
                <a:spcPts val="213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ro-RO" sz="15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Fifth Outline Level</a:t>
            </a:r>
            <a:endParaRPr lang="ro-RO" sz="15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2592000" lvl="5" indent="-216000" algn="l">
              <a:spcAft>
                <a:spcPts val="213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ro-RO" sz="15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Sixth Outline Level</a:t>
            </a:r>
            <a:endParaRPr lang="ro-RO" sz="15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3024000" lvl="6" indent="-216000" algn="l">
              <a:spcAft>
                <a:spcPts val="213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ro-RO" sz="15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Seventh Outline Level</a:t>
            </a:r>
            <a:endParaRPr lang="ro-RO" sz="15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dt" idx="1"/>
          </p:nvPr>
        </p:nvSpPr>
        <p:spPr>
          <a:xfrm>
            <a:off x="360000" y="5400000"/>
            <a:ext cx="2880000" cy="311400"/>
          </a:xfrm>
          <a:prstGeom prst="rect">
            <a:avLst/>
          </a:prstGeom>
          <a:noFill/>
          <a:ln w="7200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buNone/>
              <a:defRPr lang="ro-RO" sz="18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ro-RO" sz="18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&lt;date/time&gt;</a:t>
            </a:r>
            <a:endParaRPr lang="ro-RO" sz="18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ftr" idx="2"/>
          </p:nvPr>
        </p:nvSpPr>
        <p:spPr>
          <a:xfrm>
            <a:off x="3420000" y="5400000"/>
            <a:ext cx="3240000" cy="311400"/>
          </a:xfrm>
          <a:prstGeom prst="rect">
            <a:avLst/>
          </a:prstGeom>
          <a:noFill/>
          <a:ln w="72000">
            <a:noFill/>
          </a:ln>
        </p:spPr>
        <p:txBody>
          <a:bodyPr lIns="0" tIns="0" rIns="0" bIns="0" anchor="t">
            <a:spAutoFit/>
          </a:bodyPr>
          <a:lstStyle>
            <a:lvl1pPr indent="0" algn="ctr">
              <a:buNone/>
              <a:defRPr lang="ro-RO" sz="18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ro-RO" sz="18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&lt;footer&gt;</a:t>
            </a:r>
            <a:endParaRPr lang="ro-RO" sz="18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sldNum" idx="3"/>
          </p:nvPr>
        </p:nvSpPr>
        <p:spPr>
          <a:xfrm>
            <a:off x="9180000" y="5175000"/>
            <a:ext cx="720000" cy="450000"/>
          </a:xfrm>
          <a:prstGeom prst="rect">
            <a:avLst/>
          </a:prstGeom>
          <a:noFill/>
          <a:ln w="72000">
            <a:noFill/>
          </a:ln>
        </p:spPr>
        <p:txBody>
          <a:bodyPr lIns="0" tIns="0" rIns="0" bIns="0" anchor="ctr">
            <a:spAutoFit/>
          </a:bodyPr>
          <a:lstStyle>
            <a:lvl1pPr indent="0" algn="ctr">
              <a:buNone/>
              <a:defRPr lang="ro-RO" sz="18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fld id="{D803878C-3262-4AC4-9A47-04CCD56AE20A}" type="slidenum">
              <a:rPr lang="ro-RO" sz="18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&lt;number&gt;</a:t>
            </a:fld>
            <a:endParaRPr lang="ro-RO" sz="18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10080000" cy="5670000"/>
          </a:xfrm>
          <a:prstGeom prst="rect">
            <a:avLst/>
          </a:prstGeom>
          <a:solidFill>
            <a:srgbClr val="2C3E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ro-RO" sz="14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3" name=""/>
          <p:cNvSpPr/>
          <p:nvPr/>
        </p:nvSpPr>
        <p:spPr>
          <a:xfrm>
            <a:off x="0" y="0"/>
            <a:ext cx="10080000" cy="3780000"/>
          </a:xfrm>
          <a:prstGeom prst="rect">
            <a:avLst/>
          </a:prstGeom>
          <a:solidFill>
            <a:srgbClr val="1ABC9C"/>
          </a:solidFill>
          <a:ln w="0">
            <a:solidFill>
              <a:srgbClr val="1ABC9C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ro-RO" sz="14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360000" y="2835000"/>
            <a:ext cx="936000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buNone/>
              <a:def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to 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edit 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the 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title 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text 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form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at</a:t>
            </a:r>
            <a:endParaRPr lang="ro-RO" sz="32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360000" y="3915000"/>
            <a:ext cx="9360000" cy="148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7500" lnSpcReduction="19999"/>
          </a:bodyPr>
          <a:lstStyle>
            <a:lvl1pPr indent="0" algn="l">
              <a:spcAft>
                <a:spcPts val="655"/>
              </a:spcAft>
              <a:defRPr lang="ro-RO" sz="15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  <a:lvl2pPr lvl="1" indent="0" algn="l">
              <a:spcAft>
                <a:spcPts val="850"/>
              </a:spcAft>
              <a:defRPr lang="ro-RO" sz="15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2pPr>
            <a:lvl3pPr lvl="2" indent="0" algn="l">
              <a:spcAft>
                <a:spcPts val="635"/>
              </a:spcAft>
              <a:defRPr lang="ro-RO" sz="15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3pPr>
            <a:lvl4pPr lvl="3" indent="0" algn="l">
              <a:spcAft>
                <a:spcPts val="425"/>
              </a:spcAft>
              <a:defRPr lang="ro-RO" sz="15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4pPr>
            <a:lvl5pPr lvl="4" indent="0" algn="l">
              <a:spcAft>
                <a:spcPts val="213"/>
              </a:spcAft>
              <a:defRPr lang="ro-RO" sz="15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5pPr>
            <a:lvl6pPr lvl="5" indent="0" algn="l">
              <a:spcAft>
                <a:spcPts val="213"/>
              </a:spcAft>
              <a:defRPr lang="ro-RO" sz="15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6pPr>
            <a:lvl7pPr lvl="6" indent="0" algn="l">
              <a:spcAft>
                <a:spcPts val="213"/>
              </a:spcAft>
              <a:defRPr lang="ro-RO" sz="15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7pPr>
          </a:lstStyle>
          <a:p>
            <a:pPr marL="432000" indent="0" algn="l">
              <a:spcAft>
                <a:spcPts val="655"/>
              </a:spcAft>
            </a:pPr>
            <a:r>
              <a:rPr lang="ro-RO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outline text format</a:t>
            </a:r>
            <a:endParaRPr lang="ro-RO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marL="864000" lvl="1" indent="0" algn="l">
              <a:spcAft>
                <a:spcPts val="850"/>
              </a:spcAft>
            </a:pPr>
            <a:r>
              <a:rPr lang="ro-RO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Second Outline Level</a:t>
            </a:r>
            <a:endParaRPr lang="ro-RO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marL="1296000" lvl="2" indent="0" algn="l">
              <a:spcAft>
                <a:spcPts val="635"/>
              </a:spcAft>
            </a:pPr>
            <a:r>
              <a:rPr lang="ro-RO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Third Outline Level</a:t>
            </a:r>
            <a:endParaRPr lang="ro-RO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marL="1728000" lvl="3" indent="0" algn="l">
              <a:spcAft>
                <a:spcPts val="425"/>
              </a:spcAft>
            </a:pPr>
            <a:r>
              <a:rPr lang="ro-RO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Fourth Outline Level</a:t>
            </a:r>
            <a:endParaRPr lang="ro-RO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marL="2160000" lvl="4" indent="0" algn="l">
              <a:spcAft>
                <a:spcPts val="213"/>
              </a:spcAft>
            </a:pPr>
            <a:r>
              <a:rPr lang="ro-RO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Fifth Outline Level</a:t>
            </a:r>
            <a:endParaRPr lang="ro-RO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marL="2592000" lvl="5" indent="0" algn="l">
              <a:spcAft>
                <a:spcPts val="213"/>
              </a:spcAft>
            </a:pPr>
            <a:r>
              <a:rPr lang="ro-RO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Sixth Outline Level</a:t>
            </a:r>
            <a:endParaRPr lang="ro-RO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marL="3024000" lvl="6" indent="0" algn="l">
              <a:spcAft>
                <a:spcPts val="213"/>
              </a:spcAft>
            </a:pPr>
            <a:r>
              <a:rPr lang="ro-RO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Seventh Outline Level</a:t>
            </a:r>
            <a:endParaRPr lang="ro-RO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4"/>
          </p:nvPr>
        </p:nvSpPr>
        <p:spPr>
          <a:xfrm>
            <a:off x="360000" y="5400000"/>
            <a:ext cx="2880000" cy="311400"/>
          </a:xfrm>
          <a:prstGeom prst="rect">
            <a:avLst/>
          </a:prstGeom>
          <a:noFill/>
          <a:ln w="7200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buNone/>
              <a:defRPr lang="ro-RO" sz="18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ro-RO" sz="18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&lt;date/time&gt;</a:t>
            </a:r>
            <a:endParaRPr lang="ro-RO" sz="18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5"/>
          </p:nvPr>
        </p:nvSpPr>
        <p:spPr>
          <a:xfrm>
            <a:off x="3420000" y="5400000"/>
            <a:ext cx="3240000" cy="311400"/>
          </a:xfrm>
          <a:prstGeom prst="rect">
            <a:avLst/>
          </a:prstGeom>
          <a:noFill/>
          <a:ln w="72000">
            <a:noFill/>
          </a:ln>
        </p:spPr>
        <p:txBody>
          <a:bodyPr lIns="0" tIns="0" rIns="0" bIns="0" anchor="t">
            <a:spAutoFit/>
          </a:bodyPr>
          <a:lstStyle>
            <a:lvl1pPr indent="0" algn="ctr">
              <a:buNone/>
              <a:defRPr lang="ro-RO" sz="18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ro-RO" sz="18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&lt;footer&gt;</a:t>
            </a:r>
            <a:endParaRPr lang="ro-RO" sz="18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sldNum" idx="6"/>
          </p:nvPr>
        </p:nvSpPr>
        <p:spPr>
          <a:xfrm>
            <a:off x="9180000" y="5130000"/>
            <a:ext cx="720000" cy="540000"/>
          </a:xfrm>
          <a:prstGeom prst="rect">
            <a:avLst/>
          </a:prstGeom>
          <a:noFill/>
          <a:ln w="72000">
            <a:noFill/>
          </a:ln>
        </p:spPr>
        <p:txBody>
          <a:bodyPr lIns="0" tIns="0" rIns="0" bIns="0" anchor="ctr">
            <a:spAutoFit/>
          </a:bodyPr>
          <a:lstStyle>
            <a:lvl1pPr indent="0" algn="ctr">
              <a:buNone/>
              <a:defRPr lang="ro-RO" sz="18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fld id="{9402AF6C-84AF-4405-A376-BD0439269CC1}" type="slidenum">
              <a:rPr lang="ro-RO" sz="18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&lt;number&gt;</a:t>
            </a:fld>
            <a:endParaRPr lang="ro-RO" sz="18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"/>
          <p:cNvSpPr/>
          <p:nvPr/>
        </p:nvSpPr>
        <p:spPr>
          <a:xfrm>
            <a:off x="0" y="0"/>
            <a:ext cx="10080000" cy="5670000"/>
          </a:xfrm>
          <a:prstGeom prst="rect">
            <a:avLst/>
          </a:prstGeom>
          <a:solidFill>
            <a:srgbClr val="2C3E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ro-RO" sz="14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22" name=""/>
          <p:cNvSpPr/>
          <p:nvPr/>
        </p:nvSpPr>
        <p:spPr>
          <a:xfrm>
            <a:off x="2520000" y="1350000"/>
            <a:ext cx="5040000" cy="1890000"/>
          </a:xfrm>
          <a:prstGeom prst="wedgeRectCallout">
            <a:avLst>
              <a:gd name="adj1" fmla="val -34032"/>
              <a:gd name="adj2" fmla="val 132916"/>
            </a:avLst>
          </a:prstGeom>
          <a:solidFill>
            <a:srgbClr val="FFFFFF"/>
          </a:solidFill>
          <a:ln w="72000">
            <a:solidFill>
              <a:srgbClr val="1ABC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120600" tIns="75600" rIns="120600" bIns="75600" anchor="ctr">
            <a:noAutofit/>
          </a:bodyPr>
          <a:p>
            <a:endParaRPr lang="ro-RO" sz="14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2700000" y="1485000"/>
            <a:ext cx="4680000" cy="162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buNone/>
              <a:defRPr lang="ro-RO" sz="2700" b="1" u="none" strike="noStrike">
                <a:solidFill>
                  <a:srgbClr val="2C3E50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ro-RO" sz="27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Click </a:t>
            </a:r>
            <a:r>
              <a:rPr lang="ro-RO" sz="27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to edit </a:t>
            </a:r>
            <a:r>
              <a:rPr lang="ro-RO" sz="27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the </a:t>
            </a:r>
            <a:r>
              <a:rPr lang="ro-RO" sz="27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title </a:t>
            </a:r>
            <a:r>
              <a:rPr lang="ro-RO" sz="27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text </a:t>
            </a:r>
            <a:r>
              <a:rPr lang="ro-RO" sz="27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format</a:t>
            </a:r>
            <a:endParaRPr lang="ro-RO" sz="27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3420000" y="3240000"/>
            <a:ext cx="6300000" cy="162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indent="0" algn="l">
              <a:spcAft>
                <a:spcPts val="655"/>
              </a:spcAft>
              <a:defRPr lang="ro-RO" sz="15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  <a:lvl2pPr lvl="1" indent="0" algn="l">
              <a:spcAft>
                <a:spcPts val="850"/>
              </a:spcAft>
              <a:defRPr lang="ro-RO" sz="15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2pPr>
            <a:lvl3pPr lvl="2" indent="0" algn="l">
              <a:spcAft>
                <a:spcPts val="635"/>
              </a:spcAft>
              <a:defRPr lang="ro-RO" sz="15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3pPr>
            <a:lvl4pPr lvl="3" indent="0" algn="l">
              <a:spcAft>
                <a:spcPts val="425"/>
              </a:spcAft>
              <a:defRPr lang="ro-RO" sz="15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4pPr>
            <a:lvl5pPr lvl="4" indent="0" algn="l">
              <a:spcAft>
                <a:spcPts val="213"/>
              </a:spcAft>
              <a:defRPr lang="ro-RO" sz="15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5pPr>
            <a:lvl6pPr lvl="5" indent="0" algn="l">
              <a:spcAft>
                <a:spcPts val="213"/>
              </a:spcAft>
              <a:defRPr lang="ro-RO" sz="15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6pPr>
            <a:lvl7pPr lvl="6" indent="0" algn="l">
              <a:spcAft>
                <a:spcPts val="213"/>
              </a:spcAft>
              <a:defRPr lang="ro-RO" sz="1500" b="0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7pPr>
          </a:lstStyle>
          <a:p>
            <a:pPr marL="432000" indent="0" algn="l">
              <a:spcAft>
                <a:spcPts val="655"/>
              </a:spcAft>
            </a:pPr>
            <a:r>
              <a:rPr lang="ro-RO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outline text format</a:t>
            </a:r>
            <a:endParaRPr lang="ro-RO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marL="864000" lvl="1" indent="0" algn="l">
              <a:spcAft>
                <a:spcPts val="850"/>
              </a:spcAft>
            </a:pPr>
            <a:r>
              <a:rPr lang="ro-RO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Second Outline Level</a:t>
            </a:r>
            <a:endParaRPr lang="ro-RO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marL="1296000" lvl="2" indent="0" algn="l">
              <a:spcAft>
                <a:spcPts val="635"/>
              </a:spcAft>
            </a:pPr>
            <a:r>
              <a:rPr lang="ro-RO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Third Outline Level</a:t>
            </a:r>
            <a:endParaRPr lang="ro-RO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marL="1728000" lvl="3" indent="0" algn="l">
              <a:spcAft>
                <a:spcPts val="425"/>
              </a:spcAft>
            </a:pPr>
            <a:r>
              <a:rPr lang="ro-RO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Fourth Outline Level</a:t>
            </a:r>
            <a:endParaRPr lang="ro-RO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marL="2160000" lvl="4" indent="0" algn="l">
              <a:spcAft>
                <a:spcPts val="213"/>
              </a:spcAft>
            </a:pPr>
            <a:r>
              <a:rPr lang="ro-RO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Fifth Outline Level</a:t>
            </a:r>
            <a:endParaRPr lang="ro-RO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marL="2592000" lvl="5" indent="0" algn="l">
              <a:spcAft>
                <a:spcPts val="213"/>
              </a:spcAft>
            </a:pPr>
            <a:r>
              <a:rPr lang="ro-RO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Sixth Outline Level</a:t>
            </a:r>
            <a:endParaRPr lang="ro-RO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marL="3024000" lvl="6" indent="0" algn="l">
              <a:spcAft>
                <a:spcPts val="213"/>
              </a:spcAft>
            </a:pPr>
            <a:r>
              <a:rPr lang="ro-RO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Seventh Outline Level</a:t>
            </a:r>
            <a:endParaRPr lang="ro-RO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7"/>
          </p:nvPr>
        </p:nvSpPr>
        <p:spPr>
          <a:xfrm>
            <a:off x="360000" y="5400000"/>
            <a:ext cx="2880000" cy="311400"/>
          </a:xfrm>
          <a:prstGeom prst="rect">
            <a:avLst/>
          </a:prstGeom>
          <a:noFill/>
          <a:ln w="7200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buNone/>
              <a:defRPr lang="ro-RO" sz="18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buNone/>
            </a:pPr>
            <a:r>
              <a:rPr lang="ro-RO" sz="18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&lt;date/time&gt;</a:t>
            </a:r>
            <a:endParaRPr lang="ro-RO" sz="18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8"/>
          </p:nvPr>
        </p:nvSpPr>
        <p:spPr>
          <a:xfrm>
            <a:off x="3420000" y="5400000"/>
            <a:ext cx="3240000" cy="311400"/>
          </a:xfrm>
          <a:prstGeom prst="rect">
            <a:avLst/>
          </a:prstGeom>
          <a:noFill/>
          <a:ln w="72000">
            <a:noFill/>
          </a:ln>
        </p:spPr>
        <p:txBody>
          <a:bodyPr lIns="0" tIns="0" rIns="0" bIns="0" anchor="t">
            <a:spAutoFit/>
          </a:bodyPr>
          <a:lstStyle>
            <a:lvl1pPr indent="0" algn="ctr">
              <a:buNone/>
              <a:defRPr lang="ro-RO" sz="18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ro-RO" sz="18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&lt;footer&gt;</a:t>
            </a:r>
            <a:endParaRPr lang="ro-RO" sz="18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9"/>
          </p:nvPr>
        </p:nvSpPr>
        <p:spPr>
          <a:xfrm>
            <a:off x="9180000" y="5130000"/>
            <a:ext cx="720000" cy="540000"/>
          </a:xfrm>
          <a:prstGeom prst="rect">
            <a:avLst/>
          </a:prstGeom>
          <a:noFill/>
          <a:ln w="72000">
            <a:noFill/>
          </a:ln>
        </p:spPr>
        <p:txBody>
          <a:bodyPr lIns="0" tIns="0" rIns="0" bIns="0" anchor="ctr">
            <a:spAutoFit/>
          </a:bodyPr>
          <a:lstStyle>
            <a:lvl1pPr indent="0" algn="ctr">
              <a:buNone/>
              <a:defRPr lang="ro-RO" sz="18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fld id="{1BD4EC60-4A95-4C7D-AF80-972A37B1EF98}" type="slidenum">
              <a:rPr lang="ro-RO" sz="18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&lt;number&gt;</a:t>
            </a:fld>
            <a:endParaRPr lang="ro-RO" sz="18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360000" y="1759680"/>
            <a:ext cx="9360000" cy="1660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spAutoFit/>
          </a:bodyPr>
          <a:p>
            <a:pPr indent="0" algn="ctr">
              <a:buNone/>
            </a:pP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Infrastructur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ă de 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măsurare 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pentru 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compararea 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configurațiilo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r LLM într-un </a:t>
            </a:r>
            <a:r>
              <a:rPr lang="ro-RO" sz="3200" b="1" i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pipeline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 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multi-agent</a:t>
            </a:r>
            <a:endParaRPr lang="ro-RO" sz="32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subTitle"/>
          </p:nvPr>
        </p:nvSpPr>
        <p:spPr>
          <a:xfrm>
            <a:off x="360000" y="3894840"/>
            <a:ext cx="9360000" cy="1525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ro-RO" sz="22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Penzari Marc</a:t>
            </a:r>
            <a:endParaRPr lang="ro-RO" sz="2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indent="0" algn="ctr">
              <a:buNone/>
            </a:pPr>
            <a:r>
              <a:rPr lang="ro-RO" sz="22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TI231</a:t>
            </a:r>
            <a:endParaRPr lang="ro-RO" sz="2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indent="0" algn="ctr">
              <a:buNone/>
            </a:pPr>
            <a:endParaRPr lang="ro-RO" sz="2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indent="0" algn="ctr">
              <a:buNone/>
            </a:pPr>
            <a:r>
              <a:rPr lang="ro-RO" sz="22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2026</a:t>
            </a:r>
            <a:endParaRPr lang="ro-RO" sz="2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360000" y="173160"/>
            <a:ext cx="9360000" cy="90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anchorCtr="1">
            <a:spAutoFit/>
          </a:bodyPr>
          <a:p>
            <a:pPr algn="ctr">
              <a:spcBef>
                <a:spcPts val="1134"/>
              </a:spcBef>
              <a:spcAft>
                <a:spcPts val="1134"/>
              </a:spcAft>
            </a:pPr>
            <a:r>
              <a:rPr lang="ro-RO" sz="22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Universit</a:t>
            </a:r>
            <a:r>
              <a:rPr lang="ro-RO" sz="22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atea de </a:t>
            </a:r>
            <a:r>
              <a:rPr lang="ro-RO" sz="22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Stat din </a:t>
            </a:r>
            <a:r>
              <a:rPr lang="ro-RO" sz="22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Moldova</a:t>
            </a:r>
            <a:endParaRPr lang="ro-RO" sz="2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algn="ctr">
              <a:spcBef>
                <a:spcPts val="1134"/>
              </a:spcBef>
              <a:spcAft>
                <a:spcPts val="1134"/>
              </a:spcAft>
            </a:pPr>
            <a:r>
              <a:rPr lang="ro-RO" sz="22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Facultate</a:t>
            </a:r>
            <a:r>
              <a:rPr lang="ro-RO" sz="22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a de </a:t>
            </a:r>
            <a:r>
              <a:rPr lang="ro-RO" sz="22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Fizică și </a:t>
            </a:r>
            <a:r>
              <a:rPr lang="ro-RO" sz="22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Inginerie</a:t>
            </a:r>
            <a:endParaRPr lang="ro-RO" sz="22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60000" cy="72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>
              <a:buNone/>
            </a:pP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Conte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xt și 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probl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emă</a:t>
            </a:r>
            <a:endParaRPr lang="ro-RO" sz="32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360000" y="1485000"/>
            <a:ext cx="9360000" cy="37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p>
            <a:pPr marL="432000" indent="-324000" algn="l"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ro-RO" sz="24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Revânzarea în e-commerce</a:t>
            </a:r>
            <a:r>
              <a:rPr lang="ro-RO" sz="2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: extragere -&gt; rescriere -&gt; imagini -&gt; preț -&gt; publicare;</a:t>
            </a:r>
            <a:endParaRPr lang="ro-RO" sz="24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432000" indent="-324000" algn="l"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ro-RO" sz="24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LLM-urile</a:t>
            </a:r>
            <a:r>
              <a:rPr lang="ro-RO" sz="2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 fac automatizarea robustă: citesc pagina ca un om, produc ieșire structurată;</a:t>
            </a:r>
            <a:endParaRPr lang="ro-RO" sz="24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432000" indent="-324000" algn="l"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ro-RO" sz="24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Întrebarea principală</a:t>
            </a:r>
            <a:r>
              <a:rPr lang="ro-RO" sz="2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: dintre numeroasele LLM-uri (preț, prompt, implementare diferite), cum se compară pe o sarcină fixă și reproductibilă?</a:t>
            </a:r>
            <a:endParaRPr lang="ro-RO" sz="24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432000" indent="-324000" algn="l"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ro-RO" sz="24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Două</a:t>
            </a:r>
            <a:r>
              <a:rPr lang="ro-RO" sz="24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 livrabile</a:t>
            </a:r>
            <a:r>
              <a:rPr lang="ro-RO" sz="2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: un flux multi-agent funcțional + o infrastructură de măsurare în jurul lui.</a:t>
            </a:r>
            <a:endParaRPr lang="ro-RO" sz="24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432000" indent="0" algn="l">
              <a:spcAft>
                <a:spcPts val="1057"/>
              </a:spcAft>
              <a:buNone/>
            </a:pPr>
            <a:endParaRPr lang="ro-RO" sz="24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AB3DA52-52CA-404D-B593-9F1520B92D70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6000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>
              <a:buNone/>
            </a:pP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Fund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amen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te 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tehni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ce</a:t>
            </a:r>
            <a:endParaRPr lang="ro-RO" sz="32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360000" y="1485000"/>
            <a:ext cx="9360000" cy="37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p>
            <a:pPr marL="432000" indent="-324000" algn="l"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ro-RO" sz="24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Sistem multi-agent</a:t>
            </a:r>
            <a:r>
              <a:rPr lang="ro-RO" sz="2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: sarcina spartă în sub-sarcini, fiecare = un agent (un apel LLM cu prompt și contract de I/O);</a:t>
            </a:r>
            <a:endParaRPr lang="ro-RO" sz="24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432000" indent="-324000" algn="l"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ro-RO" sz="24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Renunțare la </a:t>
            </a:r>
            <a:r>
              <a:rPr lang="ro-RO" sz="2400" b="1" i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framework</a:t>
            </a:r>
            <a:r>
              <a:rPr lang="ro-RO" sz="24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-uri</a:t>
            </a:r>
            <a:r>
              <a:rPr lang="ro-RO" sz="2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: LangChain / LangGraph / AutoGen -&gt; orchestrator propriu de ~200 linii;</a:t>
            </a:r>
            <a:endParaRPr lang="ro-RO" sz="24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432000" indent="-324000" algn="l"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ro-RO" sz="24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Extragere structurată</a:t>
            </a:r>
            <a:r>
              <a:rPr lang="ro-RO" sz="2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: mod JSON + validare de schemă (Pydantic) cu reîncercare-o-dată la eșec;</a:t>
            </a:r>
            <a:endParaRPr lang="ro-RO" sz="24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432000" indent="-324000" algn="l"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ro-RO" sz="24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Web scraping anti-bot</a:t>
            </a:r>
            <a:r>
              <a:rPr lang="ro-RO" sz="2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: impersonare TLS (curl_cffi), rezervă Playwright, recuperare manuală folosind om-în-buclă;</a:t>
            </a:r>
            <a:endParaRPr lang="ro-RO" sz="24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432000" indent="-324000" algn="l"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ro-RO" sz="24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Interfață asincronă</a:t>
            </a:r>
            <a:r>
              <a:rPr lang="ro-RO" sz="2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: bot Telegram (notificări push pentru rulări lungi).</a:t>
            </a:r>
            <a:endParaRPr lang="ro-RO" sz="24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02F035B-D32A-4B12-BEDA-3E4FC3D1DA2F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6000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>
              <a:buNone/>
            </a:pP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Arhit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ectur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a 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siste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mului</a:t>
            </a:r>
            <a:endParaRPr lang="ro-RO" sz="32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360000" y="1485000"/>
            <a:ext cx="9360000" cy="37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p>
            <a:pPr marL="432000" indent="-324000" algn="l">
              <a:spcAft>
                <a:spcPts val="1049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ro-RO" sz="24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Patru servicii care cooperează</a:t>
            </a:r>
            <a:r>
              <a:rPr lang="ro-RO" sz="2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: bot, orchestrator, worker (Python 3.12) + Redis ca broker;</a:t>
            </a:r>
            <a:endParaRPr lang="ro-RO" sz="24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432000" indent="-324000" algn="l"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ro-RO" sz="24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Separare pentru izolarea eșecurilor</a:t>
            </a:r>
            <a:r>
              <a:rPr lang="ro-RO" sz="2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: un apel LLM lent în worker nu blochează botul;</a:t>
            </a:r>
            <a:endParaRPr lang="ro-RO" sz="24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432000" indent="-324000" algn="l"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ro-RO" sz="24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Orchestrator (FastAPI)</a:t>
            </a:r>
            <a:r>
              <a:rPr lang="ro-RO" sz="2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: API REST, ciclul de viață al rulării. Worker (</a:t>
            </a:r>
            <a:r>
              <a:rPr lang="ro-RO" sz="2400" b="1" u="none" strike="noStrike">
                <a:solidFill>
                  <a:srgbClr val="2C3E50"/>
                </a:solidFill>
                <a:effectLst/>
                <a:uFillTx/>
                <a:latin typeface="Courier New"/>
              </a:rPr>
              <a:t>arq</a:t>
            </a:r>
            <a:r>
              <a:rPr lang="ro-RO" sz="2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): execută fluxul, înregistrează măsurători;</a:t>
            </a:r>
            <a:endParaRPr lang="ro-RO" sz="24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432000" indent="-324000" algn="l"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ro-RO" sz="2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Stocare:</a:t>
            </a:r>
            <a:endParaRPr lang="ro-RO" sz="24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864000" lvl="1" indent="-324000" algn="l">
              <a:spcAft>
                <a:spcPts val="850"/>
              </a:spcAft>
              <a:buClr>
                <a:srgbClr val="2C3E50"/>
              </a:buClr>
              <a:buSzPct val="75000"/>
              <a:buFont typeface="OpenSymbol"/>
              <a:buChar char="-"/>
            </a:pPr>
            <a:r>
              <a:rPr lang="ro-RO" sz="2100" b="1" u="none" strike="noStrike">
                <a:solidFill>
                  <a:srgbClr val="2C3E50"/>
                </a:solidFill>
                <a:effectLst/>
                <a:uFillTx/>
                <a:latin typeface="Courier New"/>
              </a:rPr>
              <a:t>runs</a:t>
            </a:r>
            <a:r>
              <a:rPr lang="ro-RO" sz="21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: o linie per rulare (mașină de stări: queued -&gt; running -&gt; awaiting_approval -&gt; published/…);</a:t>
            </a:r>
            <a:endParaRPr lang="ro-RO" sz="21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864000" lvl="1" indent="-324000" algn="l">
              <a:spcAft>
                <a:spcPts val="850"/>
              </a:spcAft>
              <a:buClr>
                <a:srgbClr val="2C3E50"/>
              </a:buClr>
              <a:buSzPct val="75000"/>
              <a:buFont typeface="OpenSymbol"/>
              <a:buChar char="-"/>
            </a:pPr>
            <a:r>
              <a:rPr lang="ro-RO" sz="2100" b="1" u="none" strike="noStrike">
                <a:solidFill>
                  <a:srgbClr val="2C3E50"/>
                </a:solidFill>
                <a:effectLst/>
                <a:uFillTx/>
                <a:latin typeface="Courier New"/>
              </a:rPr>
              <a:t>step_runs</a:t>
            </a:r>
            <a:r>
              <a:rPr lang="ro-RO" sz="21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: o linie per apel agent (model, latență, token-uri, cost, eroare);</a:t>
            </a:r>
            <a:endParaRPr lang="ro-RO" sz="21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864000" lvl="1" indent="-324000" algn="l">
              <a:spcAft>
                <a:spcPts val="850"/>
              </a:spcAft>
              <a:buClr>
                <a:srgbClr val="2C3E50"/>
              </a:buClr>
              <a:buSzPct val="75000"/>
              <a:buFont typeface="OpenSymbol"/>
              <a:buChar char="-"/>
            </a:pPr>
            <a:r>
              <a:rPr lang="ro-RO" sz="21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Artefacte JSON/imagini pe disc, per rulare.</a:t>
            </a:r>
            <a:endParaRPr lang="ro-RO" sz="21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3B9FB41-57B3-4CAD-A231-1CF695D0B2E9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6000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>
              <a:buNone/>
            </a:pPr>
            <a:r>
              <a:rPr lang="ro-RO" sz="3200" b="1" i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Pipeli</a:t>
            </a:r>
            <a:r>
              <a:rPr lang="ro-RO" sz="3200" b="1" i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ne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-ul</a:t>
            </a:r>
            <a:endParaRPr lang="ro-RO" sz="32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360000" y="1485000"/>
            <a:ext cx="3060000" cy="2295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7500" lnSpcReduction="19999"/>
          </a:bodyPr>
          <a:p>
            <a:pPr marL="432000" indent="-324000" algn="l">
              <a:lnSpc>
                <a:spcPct val="100000"/>
              </a:lnSpc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ro-RO" sz="22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Șase agenți secvențiali</a:t>
            </a:r>
            <a:endParaRPr lang="ro-RO" sz="22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432000" indent="0" algn="l">
              <a:lnSpc>
                <a:spcPct val="100000"/>
              </a:lnSpc>
              <a:buNone/>
            </a:pPr>
            <a:r>
              <a:rPr lang="ro-RO" sz="22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(3 folosesc LLM):</a:t>
            </a:r>
            <a:endParaRPr lang="ro-RO" sz="22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864000" lvl="1" indent="-324000" algn="l">
              <a:spcAft>
                <a:spcPts val="850"/>
              </a:spcAft>
              <a:buClr>
                <a:srgbClr val="2C3E50"/>
              </a:buClr>
              <a:buSzPct val="75000"/>
              <a:buFont typeface="Symbol" charset="2"/>
              <a:buChar char=""/>
            </a:pPr>
            <a:r>
              <a:rPr lang="ro-RO" sz="2000" b="0" i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Scraper</a:t>
            </a:r>
            <a:r>
              <a:rPr lang="ro-RO" sz="20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;</a:t>
            </a:r>
            <a:endParaRPr lang="ro-RO" sz="20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864000" lvl="1" indent="-324000" algn="l">
              <a:spcAft>
                <a:spcPts val="850"/>
              </a:spcAft>
              <a:buClr>
                <a:srgbClr val="2C3E50"/>
              </a:buClr>
              <a:buSzPct val="75000"/>
              <a:buFont typeface="Symbol" charset="2"/>
              <a:buChar char=""/>
            </a:pPr>
            <a:r>
              <a:rPr lang="ro-RO" sz="2000" b="0" u="sng" strike="noStrike">
                <a:solidFill>
                  <a:srgbClr val="2C3E50"/>
                </a:solidFill>
                <a:effectLst/>
                <a:uFillTx/>
                <a:latin typeface="Noto Sans"/>
              </a:rPr>
              <a:t>Extractor</a:t>
            </a:r>
            <a:r>
              <a:rPr lang="ro-RO" sz="2000" b="0" i="1" u="sng" strike="noStrike">
                <a:solidFill>
                  <a:srgbClr val="2C3E50"/>
                </a:solidFill>
                <a:effectLst/>
                <a:uFillTx/>
                <a:latin typeface="Noto Sans"/>
              </a:rPr>
              <a:t>;</a:t>
            </a:r>
            <a:endParaRPr lang="ro-RO" sz="20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864000" lvl="1" indent="-324000" algn="l">
              <a:spcAft>
                <a:spcPts val="850"/>
              </a:spcAft>
              <a:buClr>
                <a:srgbClr val="2C3E50"/>
              </a:buClr>
              <a:buSzPct val="75000"/>
              <a:buFont typeface="Symbol" charset="2"/>
              <a:buChar char=""/>
            </a:pPr>
            <a:r>
              <a:rPr lang="ro-RO" sz="20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Selector imagini;</a:t>
            </a:r>
            <a:endParaRPr lang="ro-RO" sz="20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864000" lvl="1" indent="-324000" algn="l">
              <a:spcAft>
                <a:spcPts val="850"/>
              </a:spcAft>
              <a:buClr>
                <a:srgbClr val="2C3E50"/>
              </a:buClr>
              <a:buSzPct val="75000"/>
              <a:buFont typeface="Symbol" charset="2"/>
              <a:buChar char=""/>
            </a:pPr>
            <a:r>
              <a:rPr lang="ro-RO" sz="2000" b="0" u="sng" strike="noStrike">
                <a:solidFill>
                  <a:srgbClr val="2C3E50"/>
                </a:solidFill>
                <a:effectLst/>
                <a:uFillTx/>
                <a:latin typeface="Noto Sans"/>
              </a:rPr>
              <a:t>Rescriitor;</a:t>
            </a:r>
            <a:endParaRPr lang="ro-RO" sz="20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864000" lvl="1" indent="-324000" algn="l">
              <a:spcAft>
                <a:spcPts val="850"/>
              </a:spcAft>
              <a:buClr>
                <a:srgbClr val="2C3E50"/>
              </a:buClr>
              <a:buSzPct val="75000"/>
              <a:buFont typeface="Symbol" charset="2"/>
              <a:buChar char=""/>
            </a:pPr>
            <a:r>
              <a:rPr lang="ro-RO" sz="2000" b="0" u="sng" strike="noStrike">
                <a:solidFill>
                  <a:srgbClr val="2C3E50"/>
                </a:solidFill>
                <a:effectLst/>
                <a:uFillTx/>
                <a:latin typeface="Noto Sans"/>
              </a:rPr>
              <a:t>Evaluator preț</a:t>
            </a:r>
            <a:r>
              <a:rPr lang="ro-RO" sz="20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;</a:t>
            </a:r>
            <a:endParaRPr lang="ro-RO" sz="20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864000" lvl="1" indent="-324000" algn="l">
              <a:spcAft>
                <a:spcPts val="850"/>
              </a:spcAft>
              <a:buClr>
                <a:srgbClr val="2C3E50"/>
              </a:buClr>
              <a:buSzPct val="75000"/>
              <a:buFont typeface="Symbol" charset="2"/>
              <a:buChar char=""/>
            </a:pPr>
            <a:r>
              <a:rPr lang="ro-RO" sz="20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Compozitor calitate;</a:t>
            </a:r>
            <a:endParaRPr lang="ro-RO" sz="20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</p:txBody>
      </p:sp>
      <p:pic>
        <p:nvPicPr>
          <p:cNvPr id="45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4320000" y="1298880"/>
            <a:ext cx="4860000" cy="3957120"/>
          </a:xfrm>
          <a:prstGeom prst="rect">
            <a:avLst/>
          </a:prstGeom>
          <a:noFill/>
          <a:ln w="19080">
            <a:solidFill>
              <a:srgbClr val="2C3E50"/>
            </a:solidFill>
            <a:round/>
          </a:ln>
        </p:spPr>
      </p:pic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A18A36B-ED43-43EA-84E1-3604672599EE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6000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>
              <a:buNone/>
            </a:pP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Confi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gurar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ea 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exper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iment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ului</a:t>
            </a:r>
            <a:endParaRPr lang="ro-RO" sz="32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360000" y="1485000"/>
            <a:ext cx="9360000" cy="37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ro-RO" sz="24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9 configurații</a:t>
            </a:r>
            <a:r>
              <a:rPr lang="ro-RO" sz="2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: Claude, DeepSeek, </a:t>
            </a:r>
            <a:r>
              <a:rPr lang="ro-RO" sz="2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GPT, Gemini, Gemma, Llama;</a:t>
            </a:r>
            <a:endParaRPr lang="ro-RO" sz="24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432000" indent="-324000" algn="l"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ro-RO" sz="2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Matrice de </a:t>
            </a:r>
            <a:r>
              <a:rPr lang="ro-RO" sz="24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189 de rulări</a:t>
            </a:r>
            <a:r>
              <a:rPr lang="ro-RO" sz="2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 = 9 configurații × 7 anunțuri eBay × 3 repetări.</a:t>
            </a:r>
            <a:endParaRPr lang="ro-RO" sz="24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432000" indent="-324000" algn="l"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ro-RO" sz="24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HTML din cache</a:t>
            </a:r>
            <a:r>
              <a:rPr lang="ro-RO" sz="2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: fiecare URL descărcat o singură dată;</a:t>
            </a:r>
            <a:endParaRPr lang="ro-RO" sz="24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432000" indent="-324000" algn="l"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ro-RO" sz="24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Persistență la nivel de apel</a:t>
            </a:r>
            <a:r>
              <a:rPr lang="ro-RO" sz="2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: fiecare apel LLM salvat pe disc.</a:t>
            </a:r>
            <a:endParaRPr lang="ro-RO" sz="24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37B6F78-B78B-4D4A-A888-A81E3BE6F4E9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6000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>
              <a:buNone/>
            </a:pP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Rezul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tate 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cantit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ative</a:t>
            </a:r>
            <a:endParaRPr lang="ro-RO" sz="32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pic>
        <p:nvPicPr>
          <p:cNvPr id="49" name=""/>
          <p:cNvPicPr/>
          <p:nvPr/>
        </p:nvPicPr>
        <p:blipFill>
          <a:blip r:embed="rId1"/>
          <a:stretch/>
        </p:blipFill>
        <p:spPr>
          <a:xfrm>
            <a:off x="5535360" y="1293840"/>
            <a:ext cx="4004640" cy="3746160"/>
          </a:xfrm>
          <a:prstGeom prst="rect">
            <a:avLst/>
          </a:prstGeom>
          <a:noFill/>
          <a:ln w="12600">
            <a:solidFill>
              <a:srgbClr val="2C3E50"/>
            </a:solidFill>
            <a:round/>
          </a:ln>
        </p:spPr>
      </p:pic>
      <p:pic>
        <p:nvPicPr>
          <p:cNvPr id="50" name=""/>
          <p:cNvPicPr/>
          <p:nvPr/>
        </p:nvPicPr>
        <p:blipFill>
          <a:blip r:embed="rId2"/>
          <a:stretch/>
        </p:blipFill>
        <p:spPr>
          <a:xfrm>
            <a:off x="540000" y="1296000"/>
            <a:ext cx="3953880" cy="3777840"/>
          </a:xfrm>
          <a:prstGeom prst="rect">
            <a:avLst/>
          </a:prstGeom>
          <a:noFill/>
          <a:ln w="12600">
            <a:solidFill>
              <a:srgbClr val="2C3E50"/>
            </a:solidFill>
            <a:round/>
          </a:ln>
        </p:spPr>
      </p:pic>
      <p:sp>
        <p:nvSpPr>
          <p:cNvPr id="51" name=""/>
          <p:cNvSpPr txBox="1"/>
          <p:nvPr/>
        </p:nvSpPr>
        <p:spPr>
          <a:xfrm>
            <a:off x="6615360" y="5032080"/>
            <a:ext cx="1842120" cy="332640"/>
          </a:xfrm>
          <a:prstGeom prst="rect">
            <a:avLst/>
          </a:prstGeom>
          <a:noFill/>
          <a:ln w="10800">
            <a:noFill/>
          </a:ln>
        </p:spPr>
        <p:txBody>
          <a:bodyPr wrap="none" lIns="90000" tIns="45000" rIns="90000" bIns="45000" anchor="ctr">
            <a:spAutoFit/>
          </a:bodyPr>
          <a:p>
            <a:pPr algn="ctr"/>
            <a:r>
              <a:rPr lang="ro-RO" sz="1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Ieșire/intrare </a:t>
            </a:r>
            <a:r>
              <a:rPr lang="ro-RO" sz="1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tokeni</a:t>
            </a:r>
            <a:endParaRPr lang="ro-RO" sz="14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1695600" y="5073120"/>
            <a:ext cx="2094840" cy="332640"/>
          </a:xfrm>
          <a:prstGeom prst="rect">
            <a:avLst/>
          </a:prstGeom>
          <a:noFill/>
          <a:ln w="10800">
            <a:noFill/>
          </a:ln>
        </p:spPr>
        <p:txBody>
          <a:bodyPr wrap="none" lIns="90000" tIns="45000" rIns="90000" bIns="45000" anchor="ctr">
            <a:spAutoFit/>
          </a:bodyPr>
          <a:p>
            <a:pPr algn="ctr"/>
            <a:r>
              <a:rPr lang="ro-RO" sz="1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Ieșire/intrare </a:t>
            </a:r>
            <a:r>
              <a:rPr lang="ro-RO" sz="1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caractere</a:t>
            </a:r>
            <a:endParaRPr lang="ro-RO" sz="14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A437129-D943-4FA0-B7A6-2D9E4A442A98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6000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>
              <a:buNone/>
            </a:pP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Laten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ța și 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eșecu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ri</a:t>
            </a:r>
            <a:endParaRPr lang="ro-RO" sz="32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pic>
        <p:nvPicPr>
          <p:cNvPr id="54" name=""/>
          <p:cNvPicPr/>
          <p:nvPr/>
        </p:nvPicPr>
        <p:blipFill>
          <a:blip r:embed="rId1"/>
          <a:stretch/>
        </p:blipFill>
        <p:spPr>
          <a:xfrm>
            <a:off x="261000" y="1440000"/>
            <a:ext cx="4716720" cy="3420000"/>
          </a:xfrm>
          <a:prstGeom prst="rect">
            <a:avLst/>
          </a:prstGeom>
          <a:noFill/>
          <a:ln w="12600">
            <a:solidFill>
              <a:srgbClr val="2C3E50"/>
            </a:solidFill>
            <a:round/>
          </a:ln>
        </p:spPr>
      </p:pic>
      <p:sp>
        <p:nvSpPr>
          <p:cNvPr id="55" name=""/>
          <p:cNvSpPr txBox="1"/>
          <p:nvPr/>
        </p:nvSpPr>
        <p:spPr>
          <a:xfrm>
            <a:off x="1440000" y="4895280"/>
            <a:ext cx="1943640" cy="332640"/>
          </a:xfrm>
          <a:prstGeom prst="rect">
            <a:avLst/>
          </a:prstGeom>
          <a:noFill/>
          <a:ln w="10800">
            <a:noFill/>
          </a:ln>
        </p:spPr>
        <p:txBody>
          <a:bodyPr wrap="none" lIns="90000" tIns="45000" rIns="90000" bIns="45000" anchor="ctr">
            <a:spAutoFit/>
          </a:bodyPr>
          <a:p>
            <a:pPr algn="ctr"/>
            <a:r>
              <a:rPr lang="ro-RO" sz="1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Numărul de </a:t>
            </a:r>
            <a:r>
              <a:rPr lang="ro-RO" sz="1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încercări</a:t>
            </a:r>
            <a:endParaRPr lang="ro-RO" sz="14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</p:txBody>
      </p:sp>
      <p:pic>
        <p:nvPicPr>
          <p:cNvPr id="56" name=""/>
          <p:cNvPicPr/>
          <p:nvPr/>
        </p:nvPicPr>
        <p:blipFill>
          <a:blip r:embed="rId2"/>
          <a:stretch/>
        </p:blipFill>
        <p:spPr>
          <a:xfrm>
            <a:off x="5220000" y="1440000"/>
            <a:ext cx="4290840" cy="2844720"/>
          </a:xfrm>
          <a:prstGeom prst="rect">
            <a:avLst/>
          </a:prstGeom>
          <a:noFill/>
          <a:ln w="12600">
            <a:solidFill>
              <a:srgbClr val="2C3E50"/>
            </a:solidFill>
            <a:round/>
          </a:ln>
        </p:spPr>
      </p:pic>
      <p:sp>
        <p:nvSpPr>
          <p:cNvPr id="57" name=""/>
          <p:cNvSpPr txBox="1"/>
          <p:nvPr/>
        </p:nvSpPr>
        <p:spPr>
          <a:xfrm>
            <a:off x="6480000" y="4347360"/>
            <a:ext cx="1928520" cy="332640"/>
          </a:xfrm>
          <a:prstGeom prst="rect">
            <a:avLst/>
          </a:prstGeom>
          <a:noFill/>
          <a:ln w="10800">
            <a:noFill/>
          </a:ln>
        </p:spPr>
        <p:txBody>
          <a:bodyPr wrap="none" lIns="90000" tIns="45000" rIns="90000" bIns="45000" anchor="ctr">
            <a:spAutoFit/>
          </a:bodyPr>
          <a:p>
            <a:pPr algn="ctr"/>
            <a:r>
              <a:rPr lang="ro-RO" sz="1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Distribuția </a:t>
            </a:r>
            <a:r>
              <a:rPr lang="ro-RO" sz="1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latenței</a:t>
            </a:r>
            <a:endParaRPr lang="ro-RO" sz="14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AF40766-FCD2-4DF9-BF80-3D40719660FE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6000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>
              <a:buNone/>
            </a:pP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Scoru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ri 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prețu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lui</a:t>
            </a:r>
            <a:endParaRPr lang="ro-RO" sz="32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pic>
        <p:nvPicPr>
          <p:cNvPr id="59" name=""/>
          <p:cNvPicPr/>
          <p:nvPr/>
        </p:nvPicPr>
        <p:blipFill>
          <a:blip r:embed="rId1"/>
          <a:stretch/>
        </p:blipFill>
        <p:spPr>
          <a:xfrm>
            <a:off x="4680000" y="1413000"/>
            <a:ext cx="5043600" cy="3634560"/>
          </a:xfrm>
          <a:prstGeom prst="rect">
            <a:avLst/>
          </a:prstGeom>
          <a:noFill/>
          <a:ln w="12600">
            <a:solidFill>
              <a:srgbClr val="2C3E50"/>
            </a:solidFill>
            <a:round/>
          </a:ln>
        </p:spPr>
      </p:pic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360000" y="1584000"/>
            <a:ext cx="3960000" cy="327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100000"/>
              </a:lnSpc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ro-RO" sz="22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Dispoziția de preț</a:t>
            </a:r>
            <a:r>
              <a:rPr lang="ro-RO" sz="22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: scoruri pe 5 dimensiuni (-5..+5):</a:t>
            </a:r>
            <a:endParaRPr lang="ro-RO" sz="22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50"/>
              </a:spcAft>
              <a:buClr>
                <a:srgbClr val="2C3E50"/>
              </a:buClr>
              <a:buSzPct val="75000"/>
              <a:buFont typeface="Symbol" charset="2"/>
              <a:buChar char=""/>
            </a:pPr>
            <a:r>
              <a:rPr lang="ro-RO" sz="18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Lux;</a:t>
            </a:r>
            <a:endParaRPr lang="ro-RO" sz="18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50"/>
              </a:spcAft>
              <a:buClr>
                <a:srgbClr val="2C3E50"/>
              </a:buClr>
              <a:buSzPct val="75000"/>
              <a:buFont typeface="Symbol" charset="2"/>
              <a:buChar char=""/>
            </a:pPr>
            <a:r>
              <a:rPr lang="ro-RO" sz="18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Atractivitatea comercială;</a:t>
            </a:r>
            <a:endParaRPr lang="ro-RO" sz="18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50"/>
              </a:spcAft>
              <a:buClr>
                <a:srgbClr val="2C3E50"/>
              </a:buClr>
              <a:buSzPct val="75000"/>
              <a:buFont typeface="Symbol" charset="2"/>
              <a:buChar char=""/>
            </a:pPr>
            <a:r>
              <a:rPr lang="ro-RO" sz="18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Brand;</a:t>
            </a:r>
            <a:endParaRPr lang="ro-RO" sz="18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50"/>
              </a:spcAft>
              <a:buClr>
                <a:srgbClr val="2C3E50"/>
              </a:buClr>
              <a:buSzPct val="75000"/>
              <a:buFont typeface="Symbol" charset="2"/>
              <a:buChar char=""/>
            </a:pPr>
            <a:r>
              <a:rPr lang="ro-RO" sz="18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Raritate;</a:t>
            </a:r>
            <a:endParaRPr lang="ro-RO" sz="18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50"/>
              </a:spcAft>
              <a:buClr>
                <a:srgbClr val="2C3E50"/>
              </a:buClr>
              <a:buSzPct val="75000"/>
              <a:buFont typeface="Symbol" charset="2"/>
              <a:buChar char=""/>
            </a:pPr>
            <a:r>
              <a:rPr lang="ro-RO" sz="18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Cerere pe piață;</a:t>
            </a:r>
            <a:endParaRPr lang="ro-RO" sz="18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3F0B8E1-6F97-4C6B-AE33-820DBA0F8715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6000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>
              <a:buNone/>
            </a:pP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Prețu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rile 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de 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rular</a:t>
            </a: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e</a:t>
            </a:r>
            <a:endParaRPr lang="ro-RO" sz="32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pic>
        <p:nvPicPr>
          <p:cNvPr id="62" name=""/>
          <p:cNvPicPr/>
          <p:nvPr/>
        </p:nvPicPr>
        <p:blipFill>
          <a:blip r:embed="rId1"/>
          <a:stretch/>
        </p:blipFill>
        <p:spPr>
          <a:xfrm>
            <a:off x="5148720" y="1485000"/>
            <a:ext cx="4607280" cy="2295000"/>
          </a:xfrm>
          <a:prstGeom prst="rect">
            <a:avLst/>
          </a:prstGeom>
          <a:noFill/>
          <a:ln w="12600">
            <a:solidFill>
              <a:srgbClr val="2C3E50"/>
            </a:solidFill>
            <a:round/>
          </a:ln>
        </p:spPr>
      </p:pic>
      <p:graphicFrame>
        <p:nvGraphicFramePr>
          <p:cNvPr id="63" name=""/>
          <p:cNvGraphicFramePr/>
          <p:nvPr/>
        </p:nvGraphicFramePr>
        <p:xfrm>
          <a:off x="323280" y="1463040"/>
          <a:ext cx="4510800" cy="2871360"/>
        </p:xfrm>
        <a:graphic>
          <a:graphicData uri="http://schemas.openxmlformats.org/drawingml/2006/table">
            <a:tbl>
              <a:tblPr/>
              <a:tblGrid>
                <a:gridCol w="1287360"/>
                <a:gridCol w="1797840"/>
                <a:gridCol w="773640"/>
                <a:gridCol w="652320"/>
              </a:tblGrid>
              <a:tr h="518400"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spcBef>
                          <a:spcPts val="162"/>
                        </a:spcBef>
                        <a:spcAft>
                          <a:spcPts val="162"/>
                        </a:spcAft>
                      </a:pPr>
                      <a:r>
                        <a:rPr lang="ro-RO" sz="1000" b="0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Configurație</a:t>
                      </a:r>
                      <a:endParaRPr lang="ro-RO" sz="1000" b="0" i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spcBef>
                          <a:spcPts val="162"/>
                        </a:spcBef>
                        <a:spcAft>
                          <a:spcPts val="162"/>
                        </a:spcAft>
                      </a:pPr>
                      <a:r>
                        <a:rPr lang="ro-RO" sz="1000" b="0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Identificatorul</a:t>
                      </a:r>
                      <a:endParaRPr lang="ro-RO" sz="1000" b="0" i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spcBef>
                          <a:spcPts val="162"/>
                        </a:spcBef>
                        <a:spcAft>
                          <a:spcPts val="162"/>
                        </a:spcAft>
                      </a:pPr>
                      <a:r>
                        <a:rPr lang="ro-RO" sz="1000" b="0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modelului</a:t>
                      </a:r>
                      <a:endParaRPr lang="ro-RO" sz="1000" b="0" i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spcBef>
                          <a:spcPts val="162"/>
                        </a:spcBef>
                        <a:spcAft>
                          <a:spcPts val="162"/>
                        </a:spcAft>
                      </a:pPr>
                      <a:r>
                        <a:rPr lang="ro-RO" sz="1000" b="0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Prețul-intrare</a:t>
                      </a:r>
                      <a:endParaRPr lang="ro-RO" sz="1000" b="0" i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spcBef>
                          <a:spcPts val="162"/>
                        </a:spcBef>
                        <a:spcAft>
                          <a:spcPts val="162"/>
                        </a:spcAft>
                      </a:pPr>
                      <a:r>
                        <a:rPr lang="ro-RO" sz="1000" b="0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$/1M</a:t>
                      </a:r>
                      <a:endParaRPr lang="ro-RO" sz="1000" b="0" i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spcBef>
                          <a:spcPts val="162"/>
                        </a:spcBef>
                        <a:spcAft>
                          <a:spcPts val="162"/>
                        </a:spcAft>
                      </a:pPr>
                      <a:r>
                        <a:rPr lang="ro-RO" sz="1000" b="0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Prețul-ieșire</a:t>
                      </a:r>
                      <a:endParaRPr lang="ro-RO" sz="1000" b="0" i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spcBef>
                          <a:spcPts val="162"/>
                        </a:spcBef>
                        <a:spcAft>
                          <a:spcPts val="162"/>
                        </a:spcAft>
                      </a:pPr>
                      <a:r>
                        <a:rPr lang="ro-RO" sz="1000" b="0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$/1M</a:t>
                      </a:r>
                      <a:endParaRPr lang="ro-RO" sz="1000" b="0" i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claude-3-haiku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anthropic/claude-3-haiku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$0,25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$1,25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6840"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claude-3.5-haiku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anthropic/claude-3.5-haiku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$1,00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$5,00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6840"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deepseek-v4-flash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deepseek/deepseek-v4-flash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$0,10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$0,40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6840"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deepseek-v4-pro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deepseek/deepseek-v4-pro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$0,27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$1,10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6840"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google-gemini-3.1-flash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google/gemini-3.1-flash-lite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$0,10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$0,40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6840"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google-gemma-4-31b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google/gemma-4-31b-it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$0,10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$0,30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6840"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gpt-4o-mini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openai/gpt-4o-mini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$0,15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$0,60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6840"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gpt-5.4-nano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openai/gpt-5.4-nano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$0,05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$0,40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6840"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llama-3.3-70b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meta-llama/llama-3.3-70b-instruct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$0,13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r>
                        <a:rPr lang="ro-RO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$0,39</a:t>
                      </a:r>
                      <a:endParaRPr lang="ro-RO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4" name=""/>
          <p:cNvSpPr txBox="1"/>
          <p:nvPr/>
        </p:nvSpPr>
        <p:spPr>
          <a:xfrm>
            <a:off x="1440000" y="4348080"/>
            <a:ext cx="2131920" cy="332640"/>
          </a:xfrm>
          <a:prstGeom prst="rect">
            <a:avLst/>
          </a:prstGeom>
          <a:noFill/>
          <a:ln w="10800">
            <a:noFill/>
          </a:ln>
        </p:spPr>
        <p:txBody>
          <a:bodyPr wrap="none" lIns="90000" tIns="45000" rIns="90000" bIns="45000" anchor="ctr">
            <a:spAutoFit/>
          </a:bodyPr>
          <a:p>
            <a:pPr algn="ctr"/>
            <a:r>
              <a:rPr lang="ro-RO" sz="1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Prețul per 1M </a:t>
            </a:r>
            <a:r>
              <a:rPr lang="ro-RO" sz="1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token-uri</a:t>
            </a:r>
            <a:endParaRPr lang="ro-RO" sz="14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6660000" y="3779280"/>
            <a:ext cx="1584360" cy="332640"/>
          </a:xfrm>
          <a:prstGeom prst="rect">
            <a:avLst/>
          </a:prstGeom>
          <a:noFill/>
          <a:ln w="10800">
            <a:noFill/>
          </a:ln>
        </p:spPr>
        <p:txBody>
          <a:bodyPr wrap="none" lIns="90000" tIns="45000" rIns="90000" bIns="45000" anchor="ctr">
            <a:spAutoFit/>
          </a:bodyPr>
          <a:p>
            <a:pPr algn="ctr"/>
            <a:r>
              <a:rPr lang="ro-RO" sz="1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Costul per rulare</a:t>
            </a:r>
            <a:endParaRPr lang="ro-RO" sz="14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6429B07-509C-4B88-B36C-2326A7447F1D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6000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>
              <a:buNone/>
            </a:pPr>
            <a:r>
              <a:rPr lang="ro-RO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Concluzii</a:t>
            </a:r>
            <a:endParaRPr lang="ro-RO" sz="32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360000" y="1485000"/>
            <a:ext cx="9360000" cy="37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p>
            <a:pPr marL="432000" indent="-324000" algn="l"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ro-RO" sz="24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Obiectiv</a:t>
            </a:r>
            <a:r>
              <a:rPr lang="ro-RO" sz="2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: nu un model câștigător, ci un </a:t>
            </a:r>
            <a:r>
              <a:rPr lang="ro-RO" sz="2400" b="0" i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harness</a:t>
            </a:r>
            <a:r>
              <a:rPr lang="ro-RO" sz="2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 care face LLM-urile măsurabile;</a:t>
            </a:r>
            <a:endParaRPr lang="ro-RO" sz="24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432000" indent="-324000" algn="l"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ro-RO" sz="2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Două rezultate, de naturi diferite:</a:t>
            </a:r>
            <a:endParaRPr lang="ro-RO" sz="24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864000" lvl="1" indent="-324000" algn="l">
              <a:spcAft>
                <a:spcPts val="850"/>
              </a:spcAft>
              <a:buClr>
                <a:srgbClr val="2C3E50"/>
              </a:buClr>
              <a:buSzPct val="75000"/>
              <a:buFont typeface="Symbol" charset="2"/>
              <a:buChar char=""/>
            </a:pPr>
            <a:r>
              <a:rPr lang="ro-RO" sz="21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 Pozitiv-nuanțat: rezultatele descriu un LLM sub un anumit amestec de furnizori (rutarea OpenRouter), nu în absolut;</a:t>
            </a:r>
            <a:endParaRPr lang="ro-RO" sz="21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864000" lvl="1" indent="-324000" algn="l">
              <a:spcAft>
                <a:spcPts val="850"/>
              </a:spcAft>
              <a:buClr>
                <a:srgbClr val="2C3E50"/>
              </a:buClr>
              <a:buSzPct val="75000"/>
              <a:buFont typeface="Symbol" charset="2"/>
              <a:buChar char=""/>
            </a:pPr>
            <a:r>
              <a:rPr lang="ro-RO" sz="21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 Aproape nul: disciplina JSON e prea uniformă (2 reîncercări, 0 eșecuri moale / 189 rulări) pentru a departaja LLM-urile;</a:t>
            </a:r>
            <a:endParaRPr lang="ro-RO" sz="21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432000" indent="-324000" algn="l"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ro-RO" sz="24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Limitări</a:t>
            </a:r>
            <a:r>
              <a:rPr lang="ro-RO" sz="2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: rutare furnizori, 3 repetări (tendință, nu varianță), 7 anunțuri / o platformă, acuratețea agentului </a:t>
            </a:r>
            <a:r>
              <a:rPr lang="ro-RO" sz="2400" b="1" u="none" strike="noStrike">
                <a:solidFill>
                  <a:srgbClr val="2C3E50"/>
                </a:solidFill>
                <a:effectLst/>
                <a:uFillTx/>
                <a:latin typeface="Courier New"/>
              </a:rPr>
              <a:t>pricer</a:t>
            </a:r>
            <a:r>
              <a:rPr lang="ro-RO" sz="2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 imposibil de evaluat;</a:t>
            </a:r>
            <a:endParaRPr lang="ro-RO" sz="24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432000" indent="-324000" algn="l"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ro-RO" sz="24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Direcții viitoare</a:t>
            </a:r>
            <a:r>
              <a:rPr lang="ro-RO" sz="24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: modele locale (axa cloud-vs-local), variația promptului, a doua platformă (Shopify), intrări mai dificile, evaluare reală a prețurilor.</a:t>
            </a:r>
            <a:endParaRPr lang="ro-RO" sz="24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250EA3D-33E9-4FB8-9E6B-F72640C5E50C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</TotalTime>
  <Application>LibreOffice/26.2.4.2$Linux_X86_64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2026-06-12T14:22:14Z</dcterms:created>
  <dc:creator/>
  <dc:description>This work is licensed under a Creative Commons 0 License.
It makes use of the works of Jun NOGATA.</dc:description>
  <dc:language>ro-MD</dc:language>
  <cp:lastModifiedBy/>
  <dcterms:modified xsi:type="dcterms:W3CDTF">2026-06-13T12:32:24Z</dcterms:modified>
  <cp:revision>6</cp:revision>
  <dc:subject/>
  <dc:title>Midnightblue</dc:title>
</cp:coreProperties>
</file>